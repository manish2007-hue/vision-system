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C5DD52-79CB-B2FD-C5D6-D64815D5D9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F6D864-101B-CF9E-3404-E9B1EC5BBB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946C4-93C8-428B-9901-E55F43456640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652E0-FF8A-598E-0A79-5F575745FA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E59D3-4E62-E574-DA8C-E9E4D03BAF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76BC4-81BC-4347-B20C-193188F18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3785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8372C-88B9-4B69-AD90-EDE1F8C59DF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919E4-7074-4CCF-8DF1-855D413BE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8347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F17CE-87F9-E57B-6FD9-391734ED00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F4B38E4-E08C-37F6-3FA7-563C86432EB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104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2623F-9B8A-2A16-9A0D-5271A64B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034E6-7779-7481-61E0-D19CE2D1D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492C0-13D4-2DC8-8CE3-2A0C9BD66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C7EE5-15D0-B0F6-E866-C62F5C166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13A8A-6938-E406-8E37-BB54783D76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CF5F6B7-E36C-1526-2126-F89E077BF7A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77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0744-C779-079B-B7D3-61528426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D9981-A051-5257-86D4-7E6D63484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3B882-250A-26B0-2983-207B98AF4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BB051-E29B-F0E0-C712-F9A5B1D6A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14188-78C7-C32E-0078-7315F829AA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C797858-4149-ED97-D752-A139D82984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050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60F3B-E7C9-2D45-6059-35E415B2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D2CE6-8A77-245B-DD15-61AC3FB3A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D37F1-B9C9-0599-F315-7C7FC318E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3BB8A-AD53-5B23-93D0-493581DA1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45D27-7B63-CD0D-2C5E-3A5AE28BCC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ADB2FA2-0081-9FC5-FEEF-49F86E9703F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62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8C270-5DED-E693-0BE8-B1B50811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213BA-8635-631F-724E-55C073A00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F0E23-9DFD-4273-BAAE-2EEB0CD48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CDE8A-897E-91A7-657B-459221F6E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89806-BE47-E399-8FEB-8F83AD17EB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3B22AA9-27EB-1C9E-06E5-AA485C6D62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577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528D-F88B-AE2A-8B3F-48772717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6A855-B05E-DA39-C2DD-6AA72CC6E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20EDA-9C2A-F6DA-6E82-61DCE36AD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0DF97-0C19-3928-F174-0F5059B0D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B7D84-A83E-85E2-F0DB-93B333BC93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71FD33B-798D-E9EF-EF99-AAE55170CB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35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0B0B-7684-0556-6987-F1DAB5F6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CDB31-A553-6DF3-89C2-3B24A225C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7CB93-47BD-1B83-FC02-979224480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361AA-F2EE-9205-5B9B-F7E56FBF9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81CE-712B-1759-09C1-7F2AC9FAE9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F7F21F8-AD4E-081E-1202-3B224AD440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966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9D18-4F47-4C07-A4C8-2B888B41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B3898-33C6-199F-96EB-1FDF4B44E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797E0-7B9B-5434-7573-3F3D1361F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539C0-B94D-3124-4C49-E64D38318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55A1-E11A-A302-05B2-24090E17C5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F479CFE-FFD2-6B71-DE98-E9791E301E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676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26C1-20CE-E29E-0F85-EC279298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8D017-5329-F06B-9790-7F260D2F7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5A415-39BA-4FD8-C551-E4BBFF305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47B2C-C112-FEA4-451F-76A3DF0A3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19E4-7074-4CCF-8DF1-855D413BE918}" type="slidenum">
              <a:rPr lang="en-IN" smtClean="0"/>
              <a:t>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7E71-A601-9A55-B81C-CFFFFEA17A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MMIT Pune          Community Engagement Project                    A.Y.2025-26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24E1735-3477-E9D8-AFB7-33581DFC7E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7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CEB9-42B0-898D-C48F-11C93613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2CF1E-A5EB-5C21-1879-070F72184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82F0C-7820-8164-FF56-1948E2AB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BF5E-2C7F-44E1-BC3A-915DF8646421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BBF2-F8F9-F3E0-5583-4C01DE02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CC970-1F70-8C3F-B708-5F6A5CD1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8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73EA-2022-8215-9DAD-C38C40E1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EC39-929E-46CE-FE55-7FD619F4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46671-211E-48ED-AA2F-7EC99C77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38E7-22D6-46DB-BCAB-3B955773287F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001C-FFDC-544A-1927-166886B7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5BA51-764F-53C3-73A8-14B8BFD6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0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C4B9-2F4B-6701-7AC7-68217EC2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6CC12-CE24-EACC-490A-A78C2ADFF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889AF-8045-7863-3067-B12822E1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C5CF-CEB4-4896-A898-E3F8D7B83BED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821B-0118-D6CD-250A-82AB80BB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24050-6A66-4B69-D92C-56695E47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57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C837-B098-6248-911D-334FDD9B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42B4-7D79-C09B-FD01-CED0490CF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46AD2-032E-E5C5-4EEF-DFD5D9E36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E38CE-330F-702F-713C-64707DF6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C348-930D-48BE-A8D7-1A99A2D2437D}" type="datetime1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C7C01-2249-5B13-96B6-CE9A3614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F0DB-301A-5803-EB5F-81DCD211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7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88F6-A830-523C-8F2A-431FEF6D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E6A17-3D3C-6111-FDE5-66B0CE0B1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F82A-37C9-3064-395C-D30D7E467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0F04D-D2D5-B6FD-42CB-6BD69F58E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3F7EB-0A5B-F8BB-30C7-782477E3A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6EB74-762A-F6CF-040A-64483CE7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DD2CB-6AAD-4A4C-9005-56E418DA9664}" type="datetime1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0AEAD-403E-92C5-B9B9-70D89738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144C3-E591-FDC6-3599-E7C6ECEB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21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1DA8-CD35-7D41-75C9-57776CD9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F4071-3BD9-491E-ED7E-609D4A0D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B792-4415-47B8-912F-D1DF22629A3C}" type="datetime1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ACC2F-5FBF-44C6-90C4-B6BE553C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E4E6-679B-5A47-DF3D-10A4FB85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74D55-8C94-39F9-3C61-87EECBDF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AF78-E074-44D9-A36D-64979338F481}" type="datetime1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FF3D7-359E-2E43-A810-EFC9A04A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1322-8B6B-C6A2-DA06-AE28F78F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4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41A8-0B2C-EA47-F513-CBD2CC67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3C630-1532-1720-01B0-17FB0CAAB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75E7D-BFAB-C886-1DD0-F93187287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E522-971E-C3F3-F8B6-6403374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D3C9-0413-4B19-87B1-7D5A8C5CF24C}" type="datetime1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EC16F-7762-98ED-DD3D-22CFA519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73965-3509-6616-971D-E6AEF88D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38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DA0-4981-F26A-0675-9DCC5FF8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64C7F-45BE-2F5F-57E9-4877E3261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85F25-38B4-F5B5-C4F8-885844175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F871C-3EF1-1D91-48CF-FD555553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AA70-8EB4-4218-A0F6-DD71DAB523B5}" type="datetime1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23FB3-CEB6-34DB-CA6C-E664B8FF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C8E86-92C0-F4DC-A1F1-5F294884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7BFC-9602-F72E-65CA-28403E8B5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BACDD-7305-C9B2-DFD2-421A6B546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BC068-3B29-87AA-BD17-4309A58D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54BF-399C-4ED2-959E-AA621D553479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B6AEE-1C32-7401-C501-4AE785A9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A06B-3782-8413-AD5D-95F374D5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17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6B41B-7C3D-E3FE-6CBD-E1206E5A1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3A36F-CE0D-D03A-92DC-75237B196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BFD09-CFAF-20C9-9F0A-16C722B0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7C4-D3CD-4793-8C73-662C20848307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A5805-73EE-C4F4-AF45-7B5F1C72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5F0B-D3EE-3D4F-C1E7-D6E41C9E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17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1455A-994C-AB47-BB6F-4ED415A8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52B15-EAEC-83E7-7524-A637DD07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0179-90A4-747F-74EE-0FAFAC888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30C8B-B037-43E3-B77B-8ED8BF094D17}" type="datetime1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27E0-CC30-D764-D69A-D6AD3BFAF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i-FI"/>
              <a:t>MMIT Pune                                           A.Y.2025-26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6C058-4087-5F46-AF7B-EBAEAAFE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C6307-5D14-4CFB-B8A7-9F727ACFB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87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95A356-71B6-29B3-FC89-1F191DB47524}"/>
              </a:ext>
            </a:extLst>
          </p:cNvPr>
          <p:cNvSpPr/>
          <p:nvPr/>
        </p:nvSpPr>
        <p:spPr>
          <a:xfrm>
            <a:off x="210021" y="271248"/>
            <a:ext cx="1143760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“</a:t>
            </a:r>
            <a:r>
              <a:rPr lang="en-US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Techno-Social Excellence”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Marathwada Mitra Mandal’s  Institute of Technology Lohgaon, Pune-47</a:t>
            </a:r>
          </a:p>
          <a:p>
            <a:pPr algn="ctr"/>
            <a:endParaRPr lang="en-US" sz="1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Department of Robotics &amp; Artificial Intelligence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D32B3-6C2A-F222-0358-1EA514D6CE95}"/>
              </a:ext>
            </a:extLst>
          </p:cNvPr>
          <p:cNvSpPr/>
          <p:nvPr/>
        </p:nvSpPr>
        <p:spPr>
          <a:xfrm>
            <a:off x="2448233" y="1717798"/>
            <a:ext cx="7477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Community Engagement Project Presentation   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E8720-24D7-C6A9-C478-CD2CF1900B6F}"/>
              </a:ext>
            </a:extLst>
          </p:cNvPr>
          <p:cNvSpPr/>
          <p:nvPr/>
        </p:nvSpPr>
        <p:spPr>
          <a:xfrm>
            <a:off x="5675488" y="2189045"/>
            <a:ext cx="8006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71EFB-8551-980A-CA70-9AC10D10A832}"/>
              </a:ext>
            </a:extLst>
          </p:cNvPr>
          <p:cNvSpPr/>
          <p:nvPr/>
        </p:nvSpPr>
        <p:spPr>
          <a:xfrm>
            <a:off x="4287227" y="2801100"/>
            <a:ext cx="3411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“Title of the project”</a:t>
            </a:r>
            <a:endParaRPr lang="en-US" sz="2800" b="0" i="0" u="none" strike="noStrike" baseline="0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9AF56-087C-4348-3E4E-25DCF508D8A2}"/>
              </a:ext>
            </a:extLst>
          </p:cNvPr>
          <p:cNvSpPr/>
          <p:nvPr/>
        </p:nvSpPr>
        <p:spPr>
          <a:xfrm>
            <a:off x="5643181" y="3390847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By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0ECBD-65E3-2E84-C40F-CB77AC627975}"/>
              </a:ext>
            </a:extLst>
          </p:cNvPr>
          <p:cNvSpPr/>
          <p:nvPr/>
        </p:nvSpPr>
        <p:spPr>
          <a:xfrm>
            <a:off x="4098270" y="4142758"/>
            <a:ext cx="378929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Roll No. 	Name of Student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Roll No.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Name of Student </a:t>
            </a:r>
          </a:p>
          <a:p>
            <a:pPr>
              <a:lnSpc>
                <a:spcPct val="150000"/>
              </a:lnSpc>
            </a:pP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Roll No.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Name of Student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CFA42-FAFB-404E-2616-8B780C61DBB4}"/>
              </a:ext>
            </a:extLst>
          </p:cNvPr>
          <p:cNvSpPr txBox="1"/>
          <p:nvPr/>
        </p:nvSpPr>
        <p:spPr>
          <a:xfrm>
            <a:off x="4556942" y="5770775"/>
            <a:ext cx="32600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Under the Guidance of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Prof.</a:t>
            </a:r>
          </a:p>
        </p:txBody>
      </p:sp>
      <p:pic>
        <p:nvPicPr>
          <p:cNvPr id="11" name="Picture 10" descr="C:\Users\DMB\Desktop\logo mmit new.png">
            <a:extLst>
              <a:ext uri="{FF2B5EF4-FFF2-40B4-BE49-F238E27FC236}">
                <a16:creationId xmlns:a16="http://schemas.microsoft.com/office/drawing/2014/main" id="{A17341A6-0DEA-4450-973B-665A26C337F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813" y="44864"/>
            <a:ext cx="1127167" cy="13651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842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62B3DAF-F565-956F-F3FE-574217D6D016}"/>
              </a:ext>
            </a:extLst>
          </p:cNvPr>
          <p:cNvGrpSpPr/>
          <p:nvPr/>
        </p:nvGrpSpPr>
        <p:grpSpPr>
          <a:xfrm>
            <a:off x="126658" y="288053"/>
            <a:ext cx="3138985" cy="523220"/>
            <a:chOff x="341193" y="286603"/>
            <a:chExt cx="3138985" cy="523220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12BBC01C-F6C0-4A43-093C-69A88BC80944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C5EA46-50C1-7AA6-CFFA-BFBAF4CC5B2A}"/>
                </a:ext>
              </a:extLst>
            </p:cNvPr>
            <p:cNvSpPr txBox="1"/>
            <p:nvPr/>
          </p:nvSpPr>
          <p:spPr>
            <a:xfrm>
              <a:off x="619887" y="286603"/>
              <a:ext cx="15153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Contents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32C6598-ABD2-612B-5EB1-4EFEE251E73C}"/>
              </a:ext>
            </a:extLst>
          </p:cNvPr>
          <p:cNvSpPr txBox="1"/>
          <p:nvPr/>
        </p:nvSpPr>
        <p:spPr>
          <a:xfrm>
            <a:off x="209316" y="1033298"/>
            <a:ext cx="111444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  (All Times new roman- 28)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Literature review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Problem Statement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Objectives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Methodology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Time line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Excepted Outcomes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30AF5-59F8-CB2A-E07F-31085E8D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2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87762118-E5B8-32D5-558C-B29417BFF19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671" y="43315"/>
            <a:ext cx="1198693" cy="14413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2F0A8ECF-7050-1FBF-3D8C-2DA7A02F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92875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 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6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6D2A-5B31-53C7-AF67-F85D37BBB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8AD73-F14B-EDB0-CB70-7457B956F0DC}"/>
              </a:ext>
            </a:extLst>
          </p:cNvPr>
          <p:cNvSpPr txBox="1"/>
          <p:nvPr/>
        </p:nvSpPr>
        <p:spPr>
          <a:xfrm>
            <a:off x="2277122" y="2626461"/>
            <a:ext cx="70536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font size 20 of Times new roman for other contents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May contain only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 Diagrams/figures/charts with proper titles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to 5 topic headers with bulleted points per slide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long sentences and paragraphs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line spacing of 1.5 between two consecutive lines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286DDD-C819-2B81-418F-5B47D668F1BA}"/>
              </a:ext>
            </a:extLst>
          </p:cNvPr>
          <p:cNvGrpSpPr/>
          <p:nvPr/>
        </p:nvGrpSpPr>
        <p:grpSpPr>
          <a:xfrm>
            <a:off x="193413" y="381263"/>
            <a:ext cx="3417679" cy="523220"/>
            <a:chOff x="341193" y="286603"/>
            <a:chExt cx="3417679" cy="523220"/>
          </a:xfrm>
        </p:grpSpPr>
        <p:sp>
          <p:nvSpPr>
            <p:cNvPr id="6" name="Pentagon 4">
              <a:extLst>
                <a:ext uri="{FF2B5EF4-FFF2-40B4-BE49-F238E27FC236}">
                  <a16:creationId xmlns:a16="http://schemas.microsoft.com/office/drawing/2014/main" id="{48AFF090-C264-0610-343D-A18A39FE6CA2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3BDAC1-E5A5-79F6-566E-05BFA71C6EAC}"/>
                </a:ext>
              </a:extLst>
            </p:cNvPr>
            <p:cNvSpPr txBox="1"/>
            <p:nvPr/>
          </p:nvSpPr>
          <p:spPr>
            <a:xfrm>
              <a:off x="341194" y="286603"/>
              <a:ext cx="34176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Title of the project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16A673-EB2E-F701-3A73-6B452D46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3</a:t>
            </a:fld>
            <a:endParaRPr lang="en-IN"/>
          </a:p>
        </p:txBody>
      </p:sp>
      <p:pic>
        <p:nvPicPr>
          <p:cNvPr id="9" name="Picture 8" descr="C:\Users\DMB\Desktop\logo mmit new.png">
            <a:extLst>
              <a:ext uri="{FF2B5EF4-FFF2-40B4-BE49-F238E27FC236}">
                <a16:creationId xmlns:a16="http://schemas.microsoft.com/office/drawing/2014/main" id="{CA4503A9-A263-C278-5E19-3DFCF44BFB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672" y="136525"/>
            <a:ext cx="1369916" cy="134814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D812AF8-C810-9E47-78B8-7422128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64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1FBB-85B9-7C37-9A84-0ED839A3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8D7742-3F7A-60FF-A3B5-D278A6F1ECF2}"/>
              </a:ext>
            </a:extLst>
          </p:cNvPr>
          <p:cNvGrpSpPr/>
          <p:nvPr/>
        </p:nvGrpSpPr>
        <p:grpSpPr>
          <a:xfrm>
            <a:off x="126658" y="395869"/>
            <a:ext cx="3138985" cy="954107"/>
            <a:chOff x="341193" y="286603"/>
            <a:chExt cx="3138985" cy="954107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6600BE8E-A7B8-E79F-E9B3-2496B94ADCD1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C0BEF7-B635-710B-322E-977C5C55F0D4}"/>
                </a:ext>
              </a:extLst>
            </p:cNvPr>
            <p:cNvSpPr txBox="1"/>
            <p:nvPr/>
          </p:nvSpPr>
          <p:spPr>
            <a:xfrm>
              <a:off x="619887" y="286603"/>
              <a:ext cx="2135456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</a:p>
            <a:p>
              <a:endParaRPr lang="en-US" sz="2800" b="1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30365-320B-542B-D4B4-C65A1886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4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659D2ACC-FAAD-338A-A46F-66994E307DF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175" y="136525"/>
            <a:ext cx="1197306" cy="128915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C1832E55-1EC5-48B6-FAA7-5E746434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1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FF6C-B44B-9F8E-8EE5-C6E122FA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B0E8C53-F109-89EA-BC79-FF843591E746}"/>
              </a:ext>
            </a:extLst>
          </p:cNvPr>
          <p:cNvGrpSpPr/>
          <p:nvPr/>
        </p:nvGrpSpPr>
        <p:grpSpPr>
          <a:xfrm>
            <a:off x="126659" y="381263"/>
            <a:ext cx="3403122" cy="954107"/>
            <a:chOff x="341193" y="286603"/>
            <a:chExt cx="3138985" cy="954107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6402BEDD-01F3-4E33-8666-29FBFD827D07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9FF561-8BB1-CD72-FAEA-75A7148BC5FC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8795A-D5FF-5BD8-34D0-5B4A939B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5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FACDE62F-3356-88C6-6115-128FCE6E427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36525"/>
            <a:ext cx="1251929" cy="130881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27AD1F58-E90B-402B-0C4B-0FB290D7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551A779-90E9-FA8B-9508-83BE9BAE7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55629"/>
              </p:ext>
            </p:extLst>
          </p:nvPr>
        </p:nvGraphicFramePr>
        <p:xfrm>
          <a:off x="126659" y="1506315"/>
          <a:ext cx="11871929" cy="493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8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5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AUTHOR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WORK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FINDINGS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REMARKS</a:t>
                      </a:r>
                    </a:p>
                  </a:txBody>
                  <a:tcPr marL="90011" marR="90011" marT="51820" marB="51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370">
                <a:tc>
                  <a:txBody>
                    <a:bodyPr/>
                    <a:lstStyle/>
                    <a:p>
                      <a:r>
                        <a:rPr lang="en-US" sz="2100" dirty="0" err="1"/>
                        <a:t>Narayanasamy</a:t>
                      </a:r>
                      <a:r>
                        <a:rPr lang="en-US" sz="2100" dirty="0"/>
                        <a:t> et</a:t>
                      </a:r>
                      <a:r>
                        <a:rPr lang="en-US" sz="2100" baseline="0" dirty="0"/>
                        <a:t> al (2007)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Suitability of Interstitial Free(IF)  steels for press forming operations</a:t>
                      </a:r>
                      <a:r>
                        <a:rPr lang="en-US" sz="2100" baseline="0" dirty="0"/>
                        <a:t> analyzed.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Tensile  properties (</a:t>
                      </a:r>
                      <a:r>
                        <a:rPr lang="en-US" sz="2100" dirty="0" err="1"/>
                        <a:t>tensometer</a:t>
                      </a:r>
                      <a:r>
                        <a:rPr lang="en-US" sz="2100" dirty="0"/>
                        <a:t>), formability(press) parameters correlated with FLD. Formability is good.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Sheets of different  widths-thickness 0.6mm, 0.9mm, 1.2mm and 1.6mm- Sheet of 1.6mm is superior.</a:t>
                      </a:r>
                    </a:p>
                  </a:txBody>
                  <a:tcPr marL="90011" marR="90011" marT="51820" marB="51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254">
                <a:tc>
                  <a:txBody>
                    <a:bodyPr/>
                    <a:lstStyle/>
                    <a:p>
                      <a:r>
                        <a:rPr lang="en-US" sz="2100" dirty="0" err="1"/>
                        <a:t>Velmanirajan</a:t>
                      </a:r>
                      <a:r>
                        <a:rPr lang="en-US" sz="2100" dirty="0"/>
                        <a:t> et al (2012)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Numerical modeling of Al sheets formability</a:t>
                      </a:r>
                      <a:r>
                        <a:rPr lang="en-US" sz="2100" baseline="0" dirty="0"/>
                        <a:t> using Response Surface Method(RSM).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Mathematical model tool to predict response</a:t>
                      </a:r>
                      <a:r>
                        <a:rPr lang="en-US" sz="2100" baseline="0" dirty="0"/>
                        <a:t> – annealing temp, orientation or width, thickness-empirical relations evolved.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Al1350,</a:t>
                      </a:r>
                      <a:r>
                        <a:rPr lang="en-US" sz="2100" baseline="0" dirty="0"/>
                        <a:t> Al8011, Al1145 1.2mm,1.5mm,1.8mm-Model predicted in agreement with experiments.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954">
                <a:tc>
                  <a:txBody>
                    <a:bodyPr/>
                    <a:lstStyle/>
                    <a:p>
                      <a:r>
                        <a:rPr lang="en-US" sz="2100" dirty="0" err="1"/>
                        <a:t>Jianguang</a:t>
                      </a:r>
                      <a:r>
                        <a:rPr lang="en-US" sz="2100" dirty="0"/>
                        <a:t> et al (2013)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FLD prediction of sandwich sheets.</a:t>
                      </a:r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Numerical simulation-GTN damage model-punch dome test-FLD-Validated. Core</a:t>
                      </a:r>
                      <a:r>
                        <a:rPr lang="en-US" sz="2100" baseline="0" dirty="0"/>
                        <a:t> thickness influence studied.</a:t>
                      </a:r>
                      <a:endParaRPr lang="en-US" sz="2100" dirty="0"/>
                    </a:p>
                  </a:txBody>
                  <a:tcPr marL="90011" marR="90011" marT="51820" marB="518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/>
                        <a:t>AA5052/polyethylene/AA5052. Formability better than monolithic sheet.</a:t>
                      </a:r>
                    </a:p>
                  </a:txBody>
                  <a:tcPr marL="90011" marR="90011" marT="51820" marB="51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572CD1-C5BC-B44B-F6DF-00D2AEDA3699}"/>
              </a:ext>
            </a:extLst>
          </p:cNvPr>
          <p:cNvSpPr txBox="1"/>
          <p:nvPr/>
        </p:nvSpPr>
        <p:spPr>
          <a:xfrm>
            <a:off x="4604657" y="875664"/>
            <a:ext cx="3287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Refer below table as example</a:t>
            </a:r>
          </a:p>
        </p:txBody>
      </p:sp>
    </p:spTree>
    <p:extLst>
      <p:ext uri="{BB962C8B-B14F-4D97-AF65-F5344CB8AC3E}">
        <p14:creationId xmlns:p14="http://schemas.microsoft.com/office/powerpoint/2010/main" val="146999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BD47-F8A7-198C-190A-DCC6D99C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448D788-7472-B830-6519-662A85895F74}"/>
              </a:ext>
            </a:extLst>
          </p:cNvPr>
          <p:cNvGrpSpPr/>
          <p:nvPr/>
        </p:nvGrpSpPr>
        <p:grpSpPr>
          <a:xfrm>
            <a:off x="193413" y="336874"/>
            <a:ext cx="3749322" cy="954107"/>
            <a:chOff x="341193" y="286603"/>
            <a:chExt cx="3138985" cy="954107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2EE29645-80C0-F9FA-7BA1-93C00EA5DA61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B9B7D5-7AD7-FB83-2F8C-FDE9E5ABC252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064BE-9A19-9A4B-0835-21C8A1D0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6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CE169258-7943-B79B-6265-2D0C08C54F7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324" y="140255"/>
            <a:ext cx="1232264" cy="13345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B9250E57-4FA3-E15A-1535-D8DED179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7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2AF7-8C81-E3AB-5864-00BB5FDF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E011050-F595-BFDC-C853-2F4798B314FE}"/>
              </a:ext>
            </a:extLst>
          </p:cNvPr>
          <p:cNvGrpSpPr/>
          <p:nvPr/>
        </p:nvGrpSpPr>
        <p:grpSpPr>
          <a:xfrm>
            <a:off x="116826" y="381263"/>
            <a:ext cx="3442451" cy="523220"/>
            <a:chOff x="341193" y="286603"/>
            <a:chExt cx="3138985" cy="523220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4D96CA94-17B2-0C5B-D72C-2A633B0E215B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D89AD5-9E18-B041-B993-CB6164095DE5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08734-E551-3A9F-7EDD-967B1FAB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7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55C2DCE0-0965-BB7C-3026-FE335A2EE88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1" y="136525"/>
            <a:ext cx="1211810" cy="13383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73DAA428-60B1-DFA2-BCD7-820E29B1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41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60B59-D72E-1645-FD9D-13C0E9E1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CFDF83-D6EB-6D28-E5B8-616C6A93D0E7}"/>
              </a:ext>
            </a:extLst>
          </p:cNvPr>
          <p:cNvGrpSpPr/>
          <p:nvPr/>
        </p:nvGrpSpPr>
        <p:grpSpPr>
          <a:xfrm>
            <a:off x="175819" y="238552"/>
            <a:ext cx="3442451" cy="523220"/>
            <a:chOff x="341193" y="286603"/>
            <a:chExt cx="3138985" cy="523220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07DEF062-DE56-7DFE-919D-B1FAAEF03E82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DE2640-51A3-6CAD-90C4-0D9445EB087D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 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8FB2C8-C0A5-A4E5-A928-03AAF496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8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32B3F36E-E0C0-3CDE-C086-5841174950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652" y="136525"/>
            <a:ext cx="1192935" cy="13284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2FCD89EF-6DD3-6738-3007-15BB768D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4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ADF7-6CD1-DA78-F349-4D957392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26C029-2F0D-CED6-110D-14243B8E560D}"/>
              </a:ext>
            </a:extLst>
          </p:cNvPr>
          <p:cNvGrpSpPr/>
          <p:nvPr/>
        </p:nvGrpSpPr>
        <p:grpSpPr>
          <a:xfrm>
            <a:off x="210619" y="136525"/>
            <a:ext cx="3442451" cy="523220"/>
            <a:chOff x="341193" y="286603"/>
            <a:chExt cx="3138985" cy="523220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C797CE93-6B95-D0AC-C720-1AAC7A892AD8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09F8DB-EF3B-45AF-8FE4-D8FB5C1FF9A7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line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D90C0-AEEB-4829-26D3-A9589ED4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9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D8EB4662-A4B9-F7BD-4B6F-FB58F521DF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652" y="140255"/>
            <a:ext cx="1175729" cy="13542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4E1361D0-EED9-7F34-1B93-F480D595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B153B-2ED5-AD0D-578D-F139B6599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43" y="1100888"/>
            <a:ext cx="8741228" cy="50059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A60046-C961-C00A-AC80-DB54729069FC}"/>
              </a:ext>
            </a:extLst>
          </p:cNvPr>
          <p:cNvSpPr txBox="1"/>
          <p:nvPr/>
        </p:nvSpPr>
        <p:spPr>
          <a:xfrm>
            <a:off x="3995057" y="614196"/>
            <a:ext cx="390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below table format as example</a:t>
            </a:r>
          </a:p>
        </p:txBody>
      </p:sp>
    </p:spTree>
    <p:extLst>
      <p:ext uri="{BB962C8B-B14F-4D97-AF65-F5344CB8AC3E}">
        <p14:creationId xmlns:p14="http://schemas.microsoft.com/office/powerpoint/2010/main" val="157464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E382-F2EE-DAF9-67E2-D1C33D26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5C04E7-A3B8-8CC9-302E-FC78E1FFD8FF}"/>
              </a:ext>
            </a:extLst>
          </p:cNvPr>
          <p:cNvGrpSpPr/>
          <p:nvPr/>
        </p:nvGrpSpPr>
        <p:grpSpPr>
          <a:xfrm>
            <a:off x="116826" y="384993"/>
            <a:ext cx="3698090" cy="954107"/>
            <a:chOff x="341193" y="286603"/>
            <a:chExt cx="3138985" cy="954107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0FB032D9-77CD-EE8A-348E-C642A83B58FE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9A0F45-C894-D239-B702-B91EE389472F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Excepted Outcomes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0B712-1695-2176-6E37-38D0B8D8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10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2DF8A145-63AC-07F2-F560-6DE33876442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169" y="140255"/>
            <a:ext cx="1169196" cy="1314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DC72165C-C639-58E8-90D7-06D3A66D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30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FA14-5773-1F24-07D6-D460B4E0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64B58F0-51B2-45F1-37F6-8E4A6D8DBEE0}"/>
              </a:ext>
            </a:extLst>
          </p:cNvPr>
          <p:cNvGrpSpPr/>
          <p:nvPr/>
        </p:nvGrpSpPr>
        <p:grpSpPr>
          <a:xfrm>
            <a:off x="77497" y="384993"/>
            <a:ext cx="3717755" cy="523220"/>
            <a:chOff x="341193" y="286603"/>
            <a:chExt cx="3138985" cy="523220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BC50231D-F207-15F4-BE91-E2783761B69F}"/>
                </a:ext>
              </a:extLst>
            </p:cNvPr>
            <p:cNvSpPr/>
            <p:nvPr/>
          </p:nvSpPr>
          <p:spPr>
            <a:xfrm>
              <a:off x="341193" y="286603"/>
              <a:ext cx="3138985" cy="477671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006563-9C9B-4B04-0E4C-296A5B53F9CF}"/>
                </a:ext>
              </a:extLst>
            </p:cNvPr>
            <p:cNvSpPr txBox="1"/>
            <p:nvPr/>
          </p:nvSpPr>
          <p:spPr>
            <a:xfrm>
              <a:off x="519335" y="286603"/>
              <a:ext cx="28357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084188-ACFF-F3C5-9A14-5C6FA9EE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307-5D14-4CFB-B8A7-9F727ACFBFF3}" type="slidenum">
              <a:rPr lang="en-IN" smtClean="0"/>
              <a:t>11</a:t>
            </a:fld>
            <a:endParaRPr lang="en-IN"/>
          </a:p>
        </p:txBody>
      </p:sp>
      <p:pic>
        <p:nvPicPr>
          <p:cNvPr id="3" name="Picture 2" descr="C:\Users\DMB\Desktop\logo mmit new.png">
            <a:extLst>
              <a:ext uri="{FF2B5EF4-FFF2-40B4-BE49-F238E27FC236}">
                <a16:creationId xmlns:a16="http://schemas.microsoft.com/office/drawing/2014/main" id="{07DF7C3E-A575-6910-E0D2-6EB6E549AD2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342" y="140255"/>
            <a:ext cx="1409245" cy="13837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F906C6D5-5A35-1B45-5CC2-D272EDAA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213258" cy="365125"/>
          </a:xfrm>
        </p:spPr>
        <p:txBody>
          <a:bodyPr/>
          <a:lstStyle/>
          <a:p>
            <a:pPr algn="l"/>
            <a:r>
              <a:rPr lang="fi-FI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MMIT Pune                                                                                                                                                                             A.Y.2025-26                                           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CA28B-A99D-6A55-1D9C-0D257190F9D4}"/>
              </a:ext>
            </a:extLst>
          </p:cNvPr>
          <p:cNvSpPr txBox="1"/>
          <p:nvPr/>
        </p:nvSpPr>
        <p:spPr>
          <a:xfrm>
            <a:off x="288485" y="1524000"/>
            <a:ext cx="1088096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Author, “Title”, Name of Journal/Transactions/ Book, Edition/Volume, Publisher, Year of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Publication, pp.__.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5F204-BC17-B6B1-1E32-A1A3C44344B3}"/>
              </a:ext>
            </a:extLst>
          </p:cNvPr>
          <p:cNvSpPr txBox="1"/>
          <p:nvPr/>
        </p:nvSpPr>
        <p:spPr>
          <a:xfrm>
            <a:off x="3990843" y="1008666"/>
            <a:ext cx="442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below reference format as example</a:t>
            </a:r>
          </a:p>
        </p:txBody>
      </p:sp>
    </p:spTree>
    <p:extLst>
      <p:ext uri="{BB962C8B-B14F-4D97-AF65-F5344CB8AC3E}">
        <p14:creationId xmlns:p14="http://schemas.microsoft.com/office/powerpoint/2010/main" val="369585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543</Words>
  <Application>Microsoft Office PowerPoint</Application>
  <PresentationFormat>Widescreen</PresentationFormat>
  <Paragraphs>98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NILESH SATONKAR</dc:creator>
  <cp:lastModifiedBy>NILESH SATONKAR</cp:lastModifiedBy>
  <cp:revision>11</cp:revision>
  <dcterms:created xsi:type="dcterms:W3CDTF">2025-07-14T05:04:21Z</dcterms:created>
  <dcterms:modified xsi:type="dcterms:W3CDTF">2025-07-14T13:55:49Z</dcterms:modified>
</cp:coreProperties>
</file>